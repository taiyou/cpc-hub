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463040"/>
            <a:ext cx="8046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CPC Hub</a:t>
            </a:r>
            <a:endParaRPr lang="en-US" sz="4800" dirty="0"/>
          </a:p>
        </p:txBody>
      </p:sp>
      <p:sp>
        <p:nvSpPr>
          <p:cNvPr id="3" name="Text 1"/>
          <p:cNvSpPr/>
          <p:nvPr/>
        </p:nvSpPr>
        <p:spPr>
          <a:xfrm>
            <a:off x="548640" y="233172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構成設計の概要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3200400" y="2880360"/>
            <a:ext cx="2743200" cy="0"/>
          </a:xfrm>
          <a:prstGeom prst="line">
            <a:avLst/>
          </a:prstGeom>
          <a:noFill/>
          <a:ln w="25400">
            <a:solidFill>
              <a:srgbClr val="2B579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301752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8888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Collective Predictive Coding 研究のためのバイリンガル・ハブ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450342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888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実装レビュー  /  2026-05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2860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目次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822960"/>
            <a:ext cx="8046720" cy="0"/>
          </a:xfrm>
          <a:prstGeom prst="line">
            <a:avLst/>
          </a:prstGeom>
          <a:noFill/>
          <a:ln w="25400">
            <a:solidFill>
              <a:srgbClr val="2B579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503920" y="47777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AAAA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097280" y="1188720"/>
            <a:ext cx="73152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1400"/>
              </a:spcAft>
              <a:buNone/>
            </a:pPr>
            <a:r>
              <a:rPr lang="en-US" sz="18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1.   背景と現状</a:t>
            </a:r>
            <a:endParaRPr lang="en-US" sz="18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8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2.   技術スタック</a:t>
            </a:r>
            <a:endParaRPr lang="en-US" sz="18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8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3.   データモデル（5 コレクション）</a:t>
            </a:r>
            <a:endParaRPr lang="en-US" sz="18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8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4.   サイト構造と機能</a:t>
            </a:r>
            <a:endParaRPr lang="en-US" sz="18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8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5.   コンテンツフロー（手動 + 自動取り込み）</a:t>
            </a:r>
            <a:endParaRPr lang="en-US" sz="18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8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6.   自動化（launchd / fetch スクリプト）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2860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全体アーキテクチャ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822960"/>
            <a:ext cx="8046720" cy="0"/>
          </a:xfrm>
          <a:prstGeom prst="line">
            <a:avLst/>
          </a:prstGeom>
          <a:noFill/>
          <a:ln w="25400">
            <a:solidFill>
              <a:srgbClr val="2B579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503920" y="47777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AAAA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65760" y="1005840"/>
            <a:ext cx="1874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2B5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INPUT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2606040" y="1005840"/>
            <a:ext cx="1874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2B5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STORAGE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4846320" y="1005840"/>
            <a:ext cx="1874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2B5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BUILD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086600" y="1005840"/>
            <a:ext cx="1874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2B5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OUTPUT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65760" y="1417320"/>
            <a:ext cx="187452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5875">
            <a:solidFill>
              <a:srgbClr val="2B579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5760" y="1417320"/>
            <a:ext cx="1874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Markdown 編集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(手動)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65760" y="2057400"/>
            <a:ext cx="187452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5875">
            <a:solidFill>
              <a:srgbClr val="2B579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2057400"/>
            <a:ext cx="1874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YouTube API v3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(自動)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65760" y="2697480"/>
            <a:ext cx="187452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5875">
            <a:solidFill>
              <a:srgbClr val="2B579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97480"/>
            <a:ext cx="1874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note RSS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(自動)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2606040" y="1417320"/>
            <a:ext cx="1874520" cy="1783080"/>
          </a:xfrm>
          <a:prstGeom prst="roundRect">
            <a:avLst>
              <a:gd name="adj" fmla="val 3077"/>
            </a:avLst>
          </a:prstGeom>
          <a:solidFill>
            <a:srgbClr val="2B579A"/>
          </a:solidFill>
          <a:ln w="12700">
            <a:solidFill>
              <a:srgbClr val="2B579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606040" y="1417320"/>
            <a:ext cx="1874520" cy="1783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content/*.md
</a:t>
            </a:r>
            <a:endParaRPr lang="en-US" sz="12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E8EEF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papers / labs / events
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
src/data/*.json
</a:t>
            </a:r>
            <a:endParaRPr lang="en-US" sz="12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E8EEF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videos / notes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846320" y="1417320"/>
            <a:ext cx="187452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5875">
            <a:solidFill>
              <a:srgbClr val="2B579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846320" y="1417320"/>
            <a:ext cx="1874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Astro 5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(SSG)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846320" y="2057400"/>
            <a:ext cx="187452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5875">
            <a:solidFill>
              <a:srgbClr val="2B579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846320" y="2057400"/>
            <a:ext cx="1874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Tailwind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+ i18n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846320" y="2697480"/>
            <a:ext cx="187452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5875">
            <a:solidFill>
              <a:srgbClr val="2B579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846320" y="2697480"/>
            <a:ext cx="1874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全文検索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(クライアント)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086600" y="1417320"/>
            <a:ext cx="1874520" cy="502920"/>
          </a:xfrm>
          <a:prstGeom prst="roundRect">
            <a:avLst>
              <a:gd name="adj" fmla="val 10909"/>
            </a:avLst>
          </a:prstGeom>
          <a:solidFill>
            <a:srgbClr val="F0F4FA"/>
          </a:solidFill>
          <a:ln w="15875">
            <a:solidFill>
              <a:srgbClr val="2B579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086600" y="1417320"/>
            <a:ext cx="1874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/en/  /ja/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(GitHub Private)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7086600" y="2057400"/>
            <a:ext cx="187452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5875">
            <a:solidFill>
              <a:srgbClr val="2B579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086600" y="2057400"/>
            <a:ext cx="1874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共有ボタン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(訪問者起点)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086600" y="2697480"/>
            <a:ext cx="187452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5875">
            <a:solidFill>
              <a:srgbClr val="2B579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086600" y="2697480"/>
            <a:ext cx="1874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X CTA カード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(タイムライン)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2240280" y="1668780"/>
            <a:ext cx="365760" cy="640080"/>
          </a:xfrm>
          <a:prstGeom prst="line">
            <a:avLst/>
          </a:prstGeom>
          <a:noFill/>
          <a:ln w="15875">
            <a:solidFill>
              <a:srgbClr val="888888"/>
            </a:solidFill>
            <a:prstDash val="solid"/>
            <a:tailEnd type="arrow"/>
          </a:ln>
        </p:spPr>
      </p:sp>
      <p:sp>
        <p:nvSpPr>
          <p:cNvPr id="30" name="Shape 28"/>
          <p:cNvSpPr/>
          <p:nvPr/>
        </p:nvSpPr>
        <p:spPr>
          <a:xfrm>
            <a:off x="2240280" y="2308860"/>
            <a:ext cx="365760" cy="0"/>
          </a:xfrm>
          <a:prstGeom prst="line">
            <a:avLst/>
          </a:prstGeom>
          <a:noFill/>
          <a:ln w="15875">
            <a:solidFill>
              <a:srgbClr val="888888"/>
            </a:solidFill>
            <a:prstDash val="solid"/>
            <a:tailEnd type="arrow"/>
          </a:ln>
        </p:spPr>
      </p:sp>
      <p:sp>
        <p:nvSpPr>
          <p:cNvPr id="31" name="Shape 29"/>
          <p:cNvSpPr/>
          <p:nvPr/>
        </p:nvSpPr>
        <p:spPr>
          <a:xfrm>
            <a:off x="2240280" y="2948940"/>
            <a:ext cx="365760" cy="-640080"/>
          </a:xfrm>
          <a:prstGeom prst="line">
            <a:avLst/>
          </a:prstGeom>
          <a:noFill/>
          <a:ln w="15875">
            <a:solidFill>
              <a:srgbClr val="888888"/>
            </a:solidFill>
            <a:prstDash val="solid"/>
            <a:tailEnd type="arrow"/>
          </a:ln>
        </p:spPr>
      </p:sp>
      <p:sp>
        <p:nvSpPr>
          <p:cNvPr id="32" name="Shape 30"/>
          <p:cNvSpPr/>
          <p:nvPr/>
        </p:nvSpPr>
        <p:spPr>
          <a:xfrm>
            <a:off x="4480560" y="2308860"/>
            <a:ext cx="365760" cy="0"/>
          </a:xfrm>
          <a:prstGeom prst="line">
            <a:avLst/>
          </a:prstGeom>
          <a:noFill/>
          <a:ln w="15875">
            <a:solidFill>
              <a:srgbClr val="888888"/>
            </a:solidFill>
            <a:prstDash val="solid"/>
            <a:tailEnd type="arrow"/>
          </a:ln>
        </p:spPr>
      </p:sp>
      <p:sp>
        <p:nvSpPr>
          <p:cNvPr id="33" name="Shape 31"/>
          <p:cNvSpPr/>
          <p:nvPr/>
        </p:nvSpPr>
        <p:spPr>
          <a:xfrm>
            <a:off x="6720840" y="2308860"/>
            <a:ext cx="365760" cy="-640080"/>
          </a:xfrm>
          <a:prstGeom prst="line">
            <a:avLst/>
          </a:prstGeom>
          <a:noFill/>
          <a:ln w="15875">
            <a:solidFill>
              <a:srgbClr val="888888"/>
            </a:solidFill>
            <a:prstDash val="solid"/>
            <a:tailEnd type="arrow"/>
          </a:ln>
        </p:spPr>
      </p:sp>
      <p:sp>
        <p:nvSpPr>
          <p:cNvPr id="34" name="Shape 32"/>
          <p:cNvSpPr/>
          <p:nvPr/>
        </p:nvSpPr>
        <p:spPr>
          <a:xfrm>
            <a:off x="6720840" y="2308860"/>
            <a:ext cx="365760" cy="0"/>
          </a:xfrm>
          <a:prstGeom prst="line">
            <a:avLst/>
          </a:prstGeom>
          <a:noFill/>
          <a:ln w="15875">
            <a:solidFill>
              <a:srgbClr val="888888"/>
            </a:solidFill>
            <a:prstDash val="solid"/>
            <a:tailEnd type="arrow"/>
          </a:ln>
        </p:spPr>
      </p:sp>
      <p:sp>
        <p:nvSpPr>
          <p:cNvPr id="35" name="Shape 33"/>
          <p:cNvSpPr/>
          <p:nvPr/>
        </p:nvSpPr>
        <p:spPr>
          <a:xfrm>
            <a:off x="6720840" y="2308860"/>
            <a:ext cx="365760" cy="640080"/>
          </a:xfrm>
          <a:prstGeom prst="line">
            <a:avLst/>
          </a:prstGeom>
          <a:noFill/>
          <a:ln w="15875">
            <a:solidFill>
              <a:srgbClr val="888888"/>
            </a:solidFill>
            <a:prstDash val="solid"/>
            <a:tailEnd type="arrow"/>
          </a:ln>
        </p:spPr>
      </p:sp>
      <p:sp>
        <p:nvSpPr>
          <p:cNvPr id="36" name="Text 34"/>
          <p:cNvSpPr/>
          <p:nvPr/>
        </p:nvSpPr>
        <p:spPr>
          <a:xfrm>
            <a:off x="548640" y="416052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2B5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Markdown + JSON を一次データに据え、手動編集と外部 API 取り込みを統合する「ハブ」構造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548640" y="457200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各レイヤーの詳細は 4 枚目以降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2860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§1  背景と現状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822960"/>
            <a:ext cx="8046720" cy="0"/>
          </a:xfrm>
          <a:prstGeom prst="line">
            <a:avLst/>
          </a:prstGeom>
          <a:noFill/>
          <a:ln w="25400">
            <a:solidFill>
              <a:srgbClr val="2B579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503920" y="47777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AAAA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48640" y="1097280"/>
            <a:ext cx="4023360" cy="411480"/>
          </a:xfrm>
          <a:prstGeom prst="rect">
            <a:avLst/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097280"/>
            <a:ext cx="4023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現状の課題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31520" y="1691640"/>
            <a:ext cx="38404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CPC 関連情報が論文・SNS・動画・解説記事に散在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arXiv / 個人 blog / YouTube / note をまたぐ追跡コスト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日本語と英語のリソース連携が弱い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新規参入者が最初の足場を見つけにくい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937760" y="1097280"/>
            <a:ext cx="4023360" cy="411480"/>
          </a:xfrm>
          <a:prstGeom prst="rect">
            <a:avLst/>
          </a:prstGeom>
          <a:solidFill>
            <a:srgbClr val="2B579A"/>
          </a:solidFill>
          <a:ln w="12700">
            <a:solidFill>
              <a:srgbClr val="2B579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937760" y="1097280"/>
            <a:ext cx="4023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現状（実装済み）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120640" y="1691640"/>
            <a:ext cx="38404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 箇所に集約された 5 系統のリソース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EN / JA バイリンガル対応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YouTube・note の自動取り込み（1 時間毎）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CPC ダイナミクスの SVG アニメーション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 種すべてを横断する全文検索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GitHub Private で運営、CC BY-NC 4.0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2860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§1  実装スコープ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822960"/>
            <a:ext cx="8046720" cy="0"/>
          </a:xfrm>
          <a:prstGeom prst="line">
            <a:avLst/>
          </a:prstGeom>
          <a:noFill/>
          <a:ln w="25400">
            <a:solidFill>
              <a:srgbClr val="2B579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503920" y="47777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AAAA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48640" y="1051560"/>
            <a:ext cx="4023360" cy="411480"/>
          </a:xfrm>
          <a:prstGeom prst="rect">
            <a:avLst/>
          </a:prstGeom>
          <a:solidFill>
            <a:srgbClr val="2B579A"/>
          </a:solidFill>
          <a:ln w="12700">
            <a:solidFill>
              <a:srgbClr val="2B579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051560"/>
            <a:ext cx="4023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✓ 実装済み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31520" y="1645920"/>
            <a:ext cx="384048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■"/>
            </a:pPr>
            <a:r>
              <a:rPr lang="en-US" sz="12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 コレクション一覧 + 詳細ページ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■"/>
            </a:pPr>
            <a:r>
              <a:rPr lang="en-US" sz="12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EN / JA 両言語切替（ホームナビ含む）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■"/>
            </a:pPr>
            <a:r>
              <a:rPr lang="en-US" sz="12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クライアントサイド全文検索（5 種対応）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■"/>
            </a:pPr>
            <a:r>
              <a:rPr lang="en-US" sz="12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YouTube Data API v3 → videos.json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■"/>
            </a:pPr>
            <a:r>
              <a:rPr lang="en-US" sz="12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note RSS → notes.json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■"/>
            </a:pPr>
            <a:r>
              <a:rPr lang="en-US" sz="12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launchd で 1 時間ごと自動再ビルド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■"/>
            </a:pPr>
            <a:r>
              <a:rPr lang="en-US" sz="12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X CTA カード（サイドバー）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■"/>
            </a:pPr>
            <a:r>
              <a:rPr lang="en-US" sz="12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CPC SVG ダイナミクスアニメーション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■"/>
            </a:pPr>
            <a:r>
              <a:rPr lang="en-US" sz="12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共有ボタン（X / Bluesky / コピー）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937760" y="1051560"/>
            <a:ext cx="4023360" cy="41148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937760" y="1051560"/>
            <a:ext cx="4023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◯ 未実装 / 将来検討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120640" y="1645920"/>
            <a:ext cx="384048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■"/>
            </a:pPr>
            <a:r>
              <a:rPr lang="en-US" sz="12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Notion DB → Markdown 同期（将来）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■"/>
            </a:pPr>
            <a:r>
              <a:rPr lang="en-US" sz="12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arXiv 自動発見・Issue 化（将来）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■"/>
            </a:pPr>
            <a:r>
              <a:rPr lang="en-US" sz="12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Issue Form での外部貢献受付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■"/>
            </a:pPr>
            <a:r>
              <a:rPr lang="en-US" sz="12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Vercel / Cloudflare Pages デプロイ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■"/>
            </a:pPr>
            <a:r>
              <a:rPr lang="en-US" sz="12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アクセス解析（Cloudflare Web Analytics 等）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■"/>
            </a:pPr>
            <a:r>
              <a:rPr lang="en-US" sz="12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認証・ユーザー管理（不要の方針）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■"/>
            </a:pPr>
            <a:r>
              <a:rPr lang="en-US" sz="12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全文翻訳の自動化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■"/>
            </a:pPr>
            <a:r>
              <a:rPr lang="en-US" sz="12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Pagefind 高度検索（コレクション増加時）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■"/>
            </a:pPr>
            <a:r>
              <a:rPr lang="en-US" sz="12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X タイムライン埋め込み（X 側仕様で断念）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2860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§2  技術スタック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822960"/>
            <a:ext cx="8046720" cy="0"/>
          </a:xfrm>
          <a:prstGeom prst="line">
            <a:avLst/>
          </a:prstGeom>
          <a:noFill/>
          <a:ln w="25400">
            <a:solidFill>
              <a:srgbClr val="2B579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503920" y="47777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AAAA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</a:t>
            </a:r>
            <a:endParaRPr lang="en-US" sz="10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005840"/>
          <a:ext cx="80467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3017520"/>
                <a:gridCol w="3657600"/>
              </a:tblGrid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レイヤー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579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採用技術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579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選定理由 / 現状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579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サイト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Astro 5 (SSG) + Tailwind CSS 3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高速・SEO 良・i18n 標準対応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コンテンツ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Markdown + Astro Content Collections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papers / labs / events を git 管理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外部取り込み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Node + fetch (YouTube API v3 / note RSS)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src/data/videos.json と notes.json に保存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i18n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Astro 標準 i18n (en / ja)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prefixDefaultLocale: true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自動化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macOS launchd (1 時間 cron)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fetch + astro build を定期実行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可視化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Pure SVG + SMIL + CSS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CPC ダイナミクスのヒーロー、依存ゼロ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ホスティング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GitHub Private (将来 Vercel)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現状はローカルビルド + 手動配布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検索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クライアントサイド全文検索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 種対応、&lt; 100 件で十分動作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ライセンス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CC BY-NC 4.0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非営利での利用・改変・再配布を許可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2860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§3  データモデル ─ 5 つの一次データ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822960"/>
            <a:ext cx="8046720" cy="0"/>
          </a:xfrm>
          <a:prstGeom prst="line">
            <a:avLst/>
          </a:prstGeom>
          <a:noFill/>
          <a:ln w="25400">
            <a:solidFill>
              <a:srgbClr val="2B579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503920" y="47777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AAAA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7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91440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888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Content Collections（手動編集）と src/data/*.json（外部取り込み）の 2 系統。前者は Zod スキーマで型検証、後者は fetch スクリプトが書き込む。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141732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B5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Content Collections（content/*.md・手動編集）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1737360"/>
            <a:ext cx="2606040" cy="365760"/>
          </a:xfrm>
          <a:prstGeom prst="roundRect">
            <a:avLst>
              <a:gd name="adj" fmla="val 15000"/>
            </a:avLst>
          </a:prstGeom>
          <a:solidFill>
            <a:srgbClr val="2B579A"/>
          </a:solidFill>
          <a:ln w="12700">
            <a:solidFill>
              <a:srgbClr val="2B579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1737360"/>
            <a:ext cx="2606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papers  </a:t>
            </a:r>
            <a:pPr algn="ctr" indent="0" marL="0">
              <a:buNone/>
            </a:pPr>
            <a:r>
              <a:rPr lang="en-US" sz="900" dirty="0">
                <a:solidFill>
                  <a:srgbClr val="E8EEF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論文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2103120"/>
            <a:ext cx="2606040" cy="1280160"/>
          </a:xfrm>
          <a:prstGeom prst="rect">
            <a:avLst/>
          </a:prstGeom>
          <a:solidFill>
            <a:srgbClr val="FAFAFA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94360" y="2194560"/>
            <a:ext cx="233172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333333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title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333333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authors[]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333333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year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333333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venue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333333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arxiv_id?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333333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url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333333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abstract_en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333333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summary_ja?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C0392B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schools[] ★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333333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methods[]?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246120" y="1737360"/>
            <a:ext cx="2606040" cy="365760"/>
          </a:xfrm>
          <a:prstGeom prst="roundRect">
            <a:avLst>
              <a:gd name="adj" fmla="val 15000"/>
            </a:avLst>
          </a:prstGeom>
          <a:solidFill>
            <a:srgbClr val="2B579A"/>
          </a:solidFill>
          <a:ln w="12700">
            <a:solidFill>
              <a:srgbClr val="2B579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46120" y="1737360"/>
            <a:ext cx="2606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labs  </a:t>
            </a:r>
            <a:pPr algn="ctr" indent="0" marL="0">
              <a:buNone/>
            </a:pPr>
            <a:r>
              <a:rPr lang="en-US" sz="900" dirty="0">
                <a:solidFill>
                  <a:srgbClr val="E8EEF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研究室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46120" y="2103120"/>
            <a:ext cx="2606040" cy="1280160"/>
          </a:xfrm>
          <a:prstGeom prst="rect">
            <a:avLst/>
          </a:prstGeom>
          <a:solidFill>
            <a:srgbClr val="FAFAFA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383280" y="2194560"/>
            <a:ext cx="233172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333333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name_en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333333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name_ja?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333333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pi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333333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institution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333333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country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333333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homepage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333333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description_en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333333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description_ja?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333333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focus_areas[]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6035040" y="1737360"/>
            <a:ext cx="2606040" cy="365760"/>
          </a:xfrm>
          <a:prstGeom prst="roundRect">
            <a:avLst>
              <a:gd name="adj" fmla="val 15000"/>
            </a:avLst>
          </a:prstGeom>
          <a:solidFill>
            <a:srgbClr val="2B579A"/>
          </a:solidFill>
          <a:ln w="12700">
            <a:solidFill>
              <a:srgbClr val="2B579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035040" y="1737360"/>
            <a:ext cx="2606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events  </a:t>
            </a:r>
            <a:pPr algn="ctr" indent="0" marL="0">
              <a:buNone/>
            </a:pPr>
            <a:r>
              <a:rPr lang="en-US" sz="900" dirty="0">
                <a:solidFill>
                  <a:srgbClr val="E8EEF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イベント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035040" y="2103120"/>
            <a:ext cx="2606040" cy="1280160"/>
          </a:xfrm>
          <a:prstGeom prst="rect">
            <a:avLst/>
          </a:prstGeom>
          <a:solidFill>
            <a:srgbClr val="FAFAFA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172200" y="2194560"/>
            <a:ext cx="233172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333333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title_en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333333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title_ja?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C0392B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type ★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333333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date_start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333333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date_end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C0392B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language ★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333333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location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333333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url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333333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description_en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48640" y="352044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src/data/*.json（外部 API から自動取得）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1371600" y="3840480"/>
            <a:ext cx="2743200" cy="365760"/>
          </a:xfrm>
          <a:prstGeom prst="roundRect">
            <a:avLst>
              <a:gd name="adj" fmla="val 15000"/>
            </a:avLst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371600" y="38404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videos.json  </a:t>
            </a:r>
            <a:pPr algn="ctr" indent="0" marL="0">
              <a:buNone/>
            </a:pPr>
            <a:r>
              <a:rPr lang="en-US" sz="900" dirty="0">
                <a:solidFill>
                  <a:srgbClr val="FCE5E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YouTube Data API v3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1371600" y="4206240"/>
            <a:ext cx="2743200" cy="822960"/>
          </a:xfrm>
          <a:prstGeom prst="rect">
            <a:avLst/>
          </a:prstGeom>
          <a:solidFill>
            <a:srgbClr val="FAFAFA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508760" y="429768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videoId · title · channelTitle · publishedAt · thumbnail · matchedQueries[]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508760" y="480060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8888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src: Collective Predictive Coding / 記号創発 / CPC仮説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5029200" y="3840480"/>
            <a:ext cx="2743200" cy="365760"/>
          </a:xfrm>
          <a:prstGeom prst="roundRect">
            <a:avLst>
              <a:gd name="adj" fmla="val 15000"/>
            </a:avLst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029200" y="38404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notes.json  </a:t>
            </a:r>
            <a:pPr algn="ctr" indent="0" marL="0">
              <a:buNone/>
            </a:pPr>
            <a:r>
              <a:rPr lang="en-US" sz="900" dirty="0">
                <a:solidFill>
                  <a:srgbClr val="FCE5E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note.com RSS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5029200" y="4206240"/>
            <a:ext cx="2743200" cy="822960"/>
          </a:xfrm>
          <a:prstGeom prst="rect">
            <a:avLst/>
          </a:prstGeom>
          <a:solidFill>
            <a:srgbClr val="FAFAFA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166360" y="429768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id · url · title · author · publishedAt · excerpt · thumbnail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5166360" y="480060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8888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src: note.com/symbol_emerg/rss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548640" y="477774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8888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?  = optional      ★ = enum 制約 (Zod で固定)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2860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§4  サイト構造と i18n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822960"/>
            <a:ext cx="8046720" cy="0"/>
          </a:xfrm>
          <a:prstGeom prst="line">
            <a:avLst/>
          </a:prstGeom>
          <a:noFill/>
          <a:ln w="25400">
            <a:solidFill>
              <a:srgbClr val="2B579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503920" y="47777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AAAA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100584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URL 構造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1371600"/>
            <a:ext cx="502920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333333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/                        → /en/ にリダイレクト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333333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/en/                     ホーム（CPC SVG + X CTA サイドバー）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333333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/en/papers/            一覧 + /en/papers/{slug}/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333333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/en/labs/              一覧 + /en/labs/{slug}/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333333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/en/events/            一覧（Upcoming / Past）+ 詳細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333333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/en/videos/            一覧（YouTube から自動取得）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333333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/en/articles/          一覧（note から自動取得）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333333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/en/search/            全 5 種を横断する全文検索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333333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/ja/  ...                同じ構造で日本語版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852160" y="100584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i18n 戦略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852160" y="1371600"/>
            <a:ext cx="2926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1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英語が一次、日本語は補助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1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summary_ja などが空なら英語版にフォールバック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1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「（英語のみ）」ラベルを薄く表示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1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Astro 標準 i18n (prefixDefaultLocale: true)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1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ヘッダー右の EN / JA で同パスの別言語版へ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1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ナビ: ホーム → 論文 → 研究室 → イベント → 動画 → 記事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2860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§4  検索と共有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822960"/>
            <a:ext cx="8046720" cy="0"/>
          </a:xfrm>
          <a:prstGeom prst="line">
            <a:avLst/>
          </a:prstGeom>
          <a:noFill/>
          <a:ln w="25400">
            <a:solidFill>
              <a:srgbClr val="2B579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503920" y="47777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AAAA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9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1005840"/>
            <a:ext cx="4023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全文検索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1371600"/>
            <a:ext cx="402336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500"/>
              </a:spcAft>
              <a:buSzPct val="100000"/>
              <a:buChar char="■"/>
            </a:pPr>
            <a:r>
              <a:rPr lang="en-US" sz="11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クライアントサイド substring 一致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■"/>
            </a:pPr>
            <a:r>
              <a:rPr lang="en-US" sz="11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 種すべて対応（papers / labs / events / videos / articles）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■"/>
            </a:pPr>
            <a:r>
              <a:rPr lang="en-US" sz="11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タイトル / 著者 / タグ / 要約 / 場所 / 抜粋を対象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■"/>
            </a:pPr>
            <a:r>
              <a:rPr lang="en-US" sz="11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フィルター: All / Papers / Labs / Events / Videos / Articles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■"/>
            </a:pPr>
            <a:r>
              <a:rPr lang="en-US" sz="11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?q= 付き URL で共有 / ブックマーク可能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■"/>
            </a:pPr>
            <a:r>
              <a:rPr lang="en-US" sz="11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日本語も substring で動作（normalize 済み）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■"/>
            </a:pPr>
            <a:r>
              <a:rPr lang="en-US" sz="11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件数増加時は Pagefind に置換可能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937760" y="100584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共有 / 外部誘導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937760" y="1371600"/>
            <a:ext cx="38404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500"/>
              </a:spcAft>
              <a:buSzPct val="100000"/>
              <a:buChar char="■"/>
            </a:pPr>
            <a:r>
              <a:rPr lang="en-US" sz="11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詳細ページに X / Bluesky 共有ボタン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■"/>
            </a:pPr>
            <a:r>
              <a:rPr lang="en-US" sz="11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リンクをコピー（Clipboard API + フォールバック）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■"/>
            </a:pPr>
            <a:r>
              <a:rPr lang="en-US" sz="11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ホーム右サイドバーに X CTA カード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■"/>
            </a:pPr>
            <a:r>
              <a:rPr lang="en-US" sz="11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 → タイムライン埋め込みは X 仕様で不安定なため断念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■"/>
            </a:pPr>
            <a:r>
              <a:rPr lang="en-US" sz="11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 → 直接 X で見るボタンを優先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■"/>
            </a:pPr>
            <a:r>
              <a:rPr lang="en-US" sz="11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動画カード → YouTube 元動画へ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■"/>
            </a:pPr>
            <a:r>
              <a:rPr lang="en-US" sz="11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記事カード → note 元記事へ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48640" y="457200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2B5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認証もバックエンドも持たず、外部に誘導することで運用負荷を最小化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2860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§5  コンテンツフロー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822960"/>
            <a:ext cx="8046720" cy="0"/>
          </a:xfrm>
          <a:prstGeom prst="line">
            <a:avLst/>
          </a:prstGeom>
          <a:noFill/>
          <a:ln w="25400">
            <a:solidFill>
              <a:srgbClr val="2B579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503920" y="47777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AAAA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9144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888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 系統の入力 → 一次データ → Astro でレンダリング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48640" y="1508760"/>
            <a:ext cx="2377440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2B579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1508760"/>
            <a:ext cx="2377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Markdown 編集（手動）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papers / labs / events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749040" y="1508760"/>
            <a:ext cx="1828800" cy="548640"/>
          </a:xfrm>
          <a:prstGeom prst="rect">
            <a:avLst/>
          </a:prstGeom>
          <a:solidFill>
            <a:srgbClr val="2B579A"/>
          </a:solidFill>
          <a:ln w="12700">
            <a:solidFill>
              <a:srgbClr val="2B579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749040" y="150876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Zod スキーマ検証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+ git commit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48640" y="2331720"/>
            <a:ext cx="2377440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C0392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8640" y="2331720"/>
            <a:ext cx="2377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YouTube Data API v3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 キーワード検索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749040" y="2331720"/>
            <a:ext cx="1828800" cy="54864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749040" y="233172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fetch-youtube.mjs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launchd 1 時間毎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548640" y="3154680"/>
            <a:ext cx="2377440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C0392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48640" y="3154680"/>
            <a:ext cx="2377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note.com RSS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@symbol_emerg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749040" y="3154680"/>
            <a:ext cx="1828800" cy="54864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749040" y="315468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fetch-note.mjs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launchd 1 時間毎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2926080" y="1783080"/>
            <a:ext cx="822960" cy="0"/>
          </a:xfrm>
          <a:prstGeom prst="line">
            <a:avLst/>
          </a:prstGeom>
          <a:noFill/>
          <a:ln w="15875">
            <a:solidFill>
              <a:srgbClr val="888888"/>
            </a:solidFill>
            <a:prstDash val="solid"/>
            <a:tailEnd type="arrow"/>
          </a:ln>
        </p:spPr>
      </p:sp>
      <p:sp>
        <p:nvSpPr>
          <p:cNvPr id="19" name="Shape 17"/>
          <p:cNvSpPr/>
          <p:nvPr/>
        </p:nvSpPr>
        <p:spPr>
          <a:xfrm>
            <a:off x="2926080" y="2606040"/>
            <a:ext cx="822960" cy="0"/>
          </a:xfrm>
          <a:prstGeom prst="line">
            <a:avLst/>
          </a:prstGeom>
          <a:noFill/>
          <a:ln w="15875">
            <a:solidFill>
              <a:srgbClr val="888888"/>
            </a:solidFill>
            <a:prstDash val="solid"/>
            <a:tailEnd type="arrow"/>
          </a:ln>
        </p:spPr>
      </p:sp>
      <p:sp>
        <p:nvSpPr>
          <p:cNvPr id="20" name="Shape 18"/>
          <p:cNvSpPr/>
          <p:nvPr/>
        </p:nvSpPr>
        <p:spPr>
          <a:xfrm>
            <a:off x="2926080" y="3429000"/>
            <a:ext cx="822960" cy="0"/>
          </a:xfrm>
          <a:prstGeom prst="line">
            <a:avLst/>
          </a:prstGeom>
          <a:noFill/>
          <a:ln w="15875">
            <a:solidFill>
              <a:srgbClr val="888888"/>
            </a:solidFill>
            <a:prstDash val="solid"/>
            <a:tailEnd type="arrow"/>
          </a:ln>
        </p:spPr>
      </p:sp>
      <p:sp>
        <p:nvSpPr>
          <p:cNvPr id="21" name="Shape 19"/>
          <p:cNvSpPr/>
          <p:nvPr/>
        </p:nvSpPr>
        <p:spPr>
          <a:xfrm>
            <a:off x="6126480" y="1508760"/>
            <a:ext cx="2468880" cy="2194560"/>
          </a:xfrm>
          <a:prstGeom prst="roundRect">
            <a:avLst>
              <a:gd name="adj" fmla="val 2500"/>
            </a:avLst>
          </a:prstGeom>
          <a:solidFill>
            <a:srgbClr val="2B579A"/>
          </a:solidFill>
          <a:ln w="12700">
            <a:solidFill>
              <a:srgbClr val="2B579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126480" y="1508760"/>
            <a:ext cx="246888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一次データ
</a:t>
            </a:r>
            <a:endParaRPr lang="en-US" sz="1300" dirty="0"/>
          </a:p>
          <a:p>
            <a:pPr algn="ctr" indent="0" marL="0">
              <a:buNone/>
            </a:pPr>
            <a:r>
              <a:rPr lang="en-US" sz="1000" i="1" dirty="0">
                <a:solidFill>
                  <a:srgbClr val="E8EEF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content/*.md
</a:t>
            </a:r>
            <a:endParaRPr lang="en-US" sz="1300" dirty="0"/>
          </a:p>
          <a:p>
            <a:pPr algn="ctr" indent="0" marL="0">
              <a:buNone/>
            </a:pPr>
            <a:r>
              <a:rPr lang="en-US" sz="1000" i="1" dirty="0">
                <a:solidFill>
                  <a:srgbClr val="E8EEF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src/data/*.json
</a:t>
            </a:r>
            <a:endParaRPr lang="en-US" sz="13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E8EEF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 Astro build</a:t>
            </a:r>
            <a:endParaRPr lang="en-US" sz="13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E8EEF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 dist/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5577840" y="1783080"/>
            <a:ext cx="548640" cy="822960"/>
          </a:xfrm>
          <a:prstGeom prst="line">
            <a:avLst/>
          </a:prstGeom>
          <a:noFill/>
          <a:ln w="15875">
            <a:solidFill>
              <a:srgbClr val="888888"/>
            </a:solidFill>
            <a:prstDash val="solid"/>
            <a:tailEnd type="arrow"/>
          </a:ln>
        </p:spPr>
      </p:sp>
      <p:sp>
        <p:nvSpPr>
          <p:cNvPr id="24" name="Shape 22"/>
          <p:cNvSpPr/>
          <p:nvPr/>
        </p:nvSpPr>
        <p:spPr>
          <a:xfrm>
            <a:off x="5577840" y="2606040"/>
            <a:ext cx="548640" cy="0"/>
          </a:xfrm>
          <a:prstGeom prst="line">
            <a:avLst/>
          </a:prstGeom>
          <a:noFill/>
          <a:ln w="15875">
            <a:solidFill>
              <a:srgbClr val="888888"/>
            </a:solidFill>
            <a:prstDash val="solid"/>
            <a:tailEnd type="arrow"/>
          </a:ln>
        </p:spPr>
      </p:sp>
      <p:sp>
        <p:nvSpPr>
          <p:cNvPr id="25" name="Shape 23"/>
          <p:cNvSpPr/>
          <p:nvPr/>
        </p:nvSpPr>
        <p:spPr>
          <a:xfrm>
            <a:off x="5577840" y="3429000"/>
            <a:ext cx="548640" cy="-822960"/>
          </a:xfrm>
          <a:prstGeom prst="line">
            <a:avLst/>
          </a:prstGeom>
          <a:noFill/>
          <a:ln w="15875">
            <a:solidFill>
              <a:srgbClr val="888888"/>
            </a:solidFill>
            <a:prstDash val="solid"/>
            <a:tailEnd type="arrow"/>
          </a:ln>
        </p:spPr>
      </p:sp>
      <p:sp>
        <p:nvSpPr>
          <p:cNvPr id="26" name="Text 24"/>
          <p:cNvSpPr/>
          <p:nvPr/>
        </p:nvSpPr>
        <p:spPr>
          <a:xfrm>
            <a:off x="548640" y="416052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2B5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手動編集（青）と自動取り込み（赤）を分離し、運用負荷と更新頻度のバランスを取る。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2860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§6  自動化と承認モデル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822960"/>
            <a:ext cx="8046720" cy="0"/>
          </a:xfrm>
          <a:prstGeom prst="line">
            <a:avLst/>
          </a:prstGeom>
          <a:noFill/>
          <a:ln w="25400">
            <a:solidFill>
              <a:srgbClr val="2B579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503920" y="47777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AAAA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11</a:t>
            </a:r>
            <a:endParaRPr lang="en-US" sz="10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005840"/>
          <a:ext cx="804672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1463040"/>
                <a:gridCol w="2468880"/>
                <a:gridCol w="182880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スクリプト / 操作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579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頻度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579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出力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579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状態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579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fetch-youtube.mjs</a:t>
                      </a:r>
                      <a:endParaRPr lang="en-US" sz="10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 時間 (launchd)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src/data/videos.json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✓ 稼働中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fetch-note.mjs</a:t>
                      </a:r>
                      <a:endParaRPr lang="en-US" sz="10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 時間 (launchd)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src/data/notes.json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✓ 稼働中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update:content</a:t>
                      </a:r>
                      <a:endParaRPr lang="en-US" sz="10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 時間 (launchd)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dist/ 再ビルド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✓ 稼働中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Markdown 編集</a:t>
                      </a:r>
                      <a:endParaRPr lang="en-US" sz="10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随時 (手動)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papers/labs/events/*.md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✓ 運用中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notion_sync.py</a:t>
                      </a:r>
                      <a:endParaRPr lang="en-US" sz="10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将来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content/*.md 同期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88888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◯ 未実装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arxiv_monitor.py</a:t>
                      </a:r>
                      <a:endParaRPr lang="en-US" sz="10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将来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新着論文 → Issue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88888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◯ 未実装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x_post.py</a:t>
                      </a:r>
                      <a:endParaRPr lang="en-US" sz="10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将来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X 草稿（人が承認）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888888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◯ 未実装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548640" y="393192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承認モデル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0080" y="4206240"/>
            <a:ext cx="804672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■"/>
            </a:pPr>
            <a:r>
              <a:rPr lang="en-US" sz="11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外部 API からの取り込みは自動、人手では介入しない（誤情報リスクは元ソースに帰着）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■"/>
            </a:pPr>
            <a:r>
              <a:rPr lang="en-US" sz="11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手動 Markdown は Tier 1 のレビュー後にコミット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■"/>
            </a:pPr>
            <a:r>
              <a:rPr lang="en-US" sz="11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将来：Notion / Issue Form / X 自動投稿を段階的に追加（人手承認は維持）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2860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Take-home Message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822960"/>
            <a:ext cx="8046720" cy="0"/>
          </a:xfrm>
          <a:prstGeom prst="line">
            <a:avLst/>
          </a:prstGeom>
          <a:noFill/>
          <a:ln w="25400">
            <a:solidFill>
              <a:srgbClr val="2B579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503920" y="47777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AAAA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22960" y="1188720"/>
            <a:ext cx="768096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1400"/>
              </a:spcAft>
              <a:buNone/>
            </a:pPr>
            <a:r>
              <a:rPr lang="en-US" sz="15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1.  Markdown + JSON の一次データを Astro でビルドする「ハブ構造」を最小実装で達成</a:t>
            </a:r>
            <a:endParaRPr lang="en-US" sz="15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5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2.  5 つのコレクション（papers / labs / events / videos / articles）を横断する全文検索 + バイリンガル</a:t>
            </a:r>
            <a:endParaRPr lang="en-US" sz="15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5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3.  YouTube API と note RSS を 1 時間毎に取り込み、手動編集とのハイブリッドで運用</a:t>
            </a:r>
            <a:endParaRPr lang="en-US" sz="15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5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4.  次のフェーズ：Notion 連携、arXiv 監視、X 自動投稿、Cloudflare/Vercel デプロイへ段階的に拡張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2860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参考リソース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822960"/>
            <a:ext cx="8046720" cy="0"/>
          </a:xfrm>
          <a:prstGeom prst="line">
            <a:avLst/>
          </a:prstGeom>
          <a:noFill/>
          <a:ln w="25400">
            <a:solidFill>
              <a:srgbClr val="2B579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503920" y="47777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AAAA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100584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CPC の学術的背景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31520" y="1371600"/>
            <a:ext cx="786384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Taniguchi, T., Yoshida, M., Matsui, Y., Le, N. C., Ueda, K., Hagiwara, Y., &amp; Taniguchi, A. (2024). Collective predictive coding hypothesis: Symbol emergence as decentralized Bayesian inference. </a:t>
            </a:r>
            <a:pPr indent="0" marL="0">
              <a:buNone/>
            </a:pPr>
            <a:r>
              <a:rPr lang="en-US" sz="1100" i="1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Frontiers in Robotics and AI</a:t>
            </a:r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, 11. </a:t>
            </a:r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2B5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https://doi.org/10.3389/frobt.2024.1353870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8640" y="237744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技術リソース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31520" y="2743200"/>
            <a:ext cx="786384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Astro 5 — https://docs.astro.build/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Astro Content Collections — https://docs.astro.build/en/guides/content-collections/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Tailwind CSS 3 — https://tailwindcss.com/docs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YouTube Data API v3 — https://developers.google.com/youtube/v3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note RSS — https://note.com/{username}/rss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launchd (macOS) — https://www.launchd.info/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3333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Pagefind（将来の検索）— https://pagefind.app/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48640" y="454914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8888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リポジトリ: github.com/Taiyou/cpc-hub  /  ライセンス: CC BY-NC 4.0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2026-05-11T01:45:33Z</dcterms:created>
  <dcterms:modified xsi:type="dcterms:W3CDTF">2026-05-11T01:45:33Z</dcterms:modified>
</cp:coreProperties>
</file>