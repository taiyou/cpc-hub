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68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Hub 運営体制の提案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持続的な情報集約のための 3 層構造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0" y="3931920"/>
            <a:ext cx="448056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Hub Maintainers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年 5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99943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目的とビジョン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全体構造の考え方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Tier 1：技術リード（コアチーム）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 Tier 2：運用担当（有償）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 Tier 3：貢献ボランティア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 ツール・権限のマッピング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 育成と昇格のパス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  次のステップ（3 ヶ月ロードマップ）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全体俯瞰：3 層構造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626864" y="1280160"/>
            <a:ext cx="2926080" cy="1280160"/>
          </a:xfrm>
          <a:custGeom>
            <a:avLst/>
            <a:gdLst/>
            <a:ahLst/>
            <a:cxnLst/>
            <a:rect l="l" t="t" r="r" b="b"/>
            <a:pathLst>
              <a:path w="2926080" h="1280160">
                <a:moveTo>
                  <a:pt x="731520" y="0"/>
                </a:moveTo>
                <a:lnTo>
                  <a:pt x="2194560" y="0"/>
                </a:lnTo>
                <a:lnTo>
                  <a:pt x="292608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1F3F7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626864" y="12801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技術リード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21024" y="2560320"/>
            <a:ext cx="4937760" cy="1463040"/>
          </a:xfrm>
          <a:custGeom>
            <a:avLst/>
            <a:gdLst/>
            <a:ahLst/>
            <a:cxnLst/>
            <a:rect l="l" t="t" r="r" b="b"/>
            <a:pathLst>
              <a:path w="4937760" h="1463040">
                <a:moveTo>
                  <a:pt x="1005840" y="0"/>
                </a:moveTo>
                <a:lnTo>
                  <a:pt x="3931920" y="0"/>
                </a:lnTo>
                <a:lnTo>
                  <a:pt x="493776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2B579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21024" y="25603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運用担当（有償）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32304" y="4023360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1188720" y="0"/>
                </a:moveTo>
                <a:lnTo>
                  <a:pt x="6126480" y="0"/>
                </a:lnTo>
                <a:lnTo>
                  <a:pt x="731520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7A9BC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432304" y="40233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貢献ボランティア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66544" y="1280160"/>
            <a:ext cx="0" cy="420624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-36576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信頼度・技術スキル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55064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5064" y="5394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13264" y="1280160"/>
            <a:ext cx="0" cy="420624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head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204704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人数・関与の広さ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27264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2–3 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33104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数名（有償）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04704" y="5257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信頼度・技術スキルが上に行くほど高く、人数は下に行くほど多い 3 層構造。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各層は独立せず、Tier 3 → 2 → 1 への昇格パスを設けて持続性を担保する。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A788907-CCEF-FDAB-5B1C-CEE13734AB60}"/>
              </a:ext>
            </a:extLst>
          </p:cNvPr>
          <p:cNvSpPr/>
          <p:nvPr/>
        </p:nvSpPr>
        <p:spPr>
          <a:xfrm>
            <a:off x="10347056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A7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クローズド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目的とビジョン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Hub に情報を集約し、研究コミュニティの「最初の入口」になる。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75304" cy="50292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75304" cy="3474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1810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Collective Predictive Coding の関連情報が </a:t>
            </a:r>
            <a:r>
              <a:rPr lang="en-US" sz="14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SNS・論文・動画に分散している</a:t>
            </a: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集約と日英双方向のキュレーションで、研究者・学生・実務家の探索コストを下げる</a:t>
            </a: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06824" y="2011680"/>
            <a:ext cx="3575304" cy="50292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06824" y="201168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誰のために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6824" y="2514600"/>
            <a:ext cx="3575304" cy="3474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35424" y="2697480"/>
            <a:ext cx="311810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国内外の研究者、学際的に関心を持つ大学院生・学部生、産業界の応用研究者、報道・教育関係者。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5008" y="2011680"/>
            <a:ext cx="3575304" cy="50292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65008" y="201168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何を目指す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65008" y="2514600"/>
            <a:ext cx="3575304" cy="34747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293608" y="2697480"/>
            <a:ext cx="311810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更新が止まらないこと</a:t>
            </a: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spcAft>
                <a:spcPts val="600"/>
              </a:spcAft>
              <a:buNone/>
            </a:pPr>
            <a:endParaRPr lang="en-US" sz="1400" dirty="0">
              <a:solidFill>
                <a:srgbClr val="33333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人に依存せず、複数の役割が噛み合って自走するエコシステムを作る。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全体構造の考え方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つの軸でメンバーを区別する。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530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金銭・API キー・公開判断に関わる権限をどこまで委ねられるか。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6824" y="1828800"/>
            <a:ext cx="357530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306824" y="192024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技術スキル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9704" y="242316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/ Markdown / API / Notion など、運用に必要な技術的素養。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828800"/>
            <a:ext cx="357530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065008" y="192024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関与度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47888" y="2423160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週あたりにかけられる時間と継続性。短期スポットか、継続関与か。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3 軸で分けることで、無理な権限委譲を避けつつ、多様な人が参加できる設計にする。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具体的なマッピング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4617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技術スキル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関与度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463040" cy="329184"/>
          </a:xfrm>
          <a:prstGeom prst="rect">
            <a:avLst/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49834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49834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高（コード書ける）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9834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継続・コア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463040" cy="329184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48640" y="53949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53949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重要運用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539496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中（設定操作）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5394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週数回・有償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463040" cy="329184"/>
          </a:xfrm>
          <a:prstGeom prst="rect">
            <a:avLst/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58064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58064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58064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スポット OK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Tier 1：技術リード（コアチーム）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サイト全体の設計・技術・運営方針に責任を持つ 2〜3 名の信頼チーム。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62956" cy="411480"/>
          </a:xfrm>
          <a:prstGeom prst="rect">
            <a:avLst/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主な役割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サイトのアーキテクチャと方針決定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API キー / 支払い / 公開判断の最終責任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Tier 2 のオンボーディング・サポート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コードレビュー・リリース判断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1874520"/>
            <a:ext cx="5362956" cy="411480"/>
          </a:xfrm>
          <a:prstGeom prst="rect">
            <a:avLst/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277356" y="187452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想定する人材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4476" y="228600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323076" y="237744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運営の中心となる信頼できるメンバー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技術が分かる（フルスタック or インフラ寄り）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長期的にコミットできる人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想定：プロジェクト発起人・主要研究者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62956" cy="411480"/>
          </a:xfrm>
          <a:prstGeom prst="rect">
            <a:avLst/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必要スキル / 環境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Git / GitHub（書き込み・レビュー）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Astro / TypeScript の編集ができる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Notion / launchd / cron などの管理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Google Cloud / 各種 API キー管理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4476" y="4297680"/>
            <a:ext cx="5362956" cy="411480"/>
          </a:xfrm>
          <a:prstGeom prst="rect">
            <a:avLst/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77356" y="429768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具体的なタスク例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4476" y="470916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323076" y="480060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新しいコレクション（記事・動画）の追加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ホームのレイアウト・デザイン変更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API クォータ・支払いの監視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セキュリティ対応（漏洩キー無効化など）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 Tier 2：運用担当（有償）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定常運用と重要な編集判断を担う。学生バイト・秘書・委託メンバーを想定。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62956" cy="4114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主な役割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論文の解説執筆・要約レビュー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記事の公開・カテゴライズ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YouTube 検索キーワードの調整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支払い・経費の入力補助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Tier 3 から提出された内容の検収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1874520"/>
            <a:ext cx="5362956" cy="4114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277356" y="187452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想定する人材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4476" y="228600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323076" y="237744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アルバイト代が出る学生・秘書・委託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週数時間から関与できる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Notion の基本操作ができる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将来的に Tier 1 候補を育てる枠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62956" cy="4114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必要スキル / 環境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Notion ページ編集・テンプレート活用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Markdown の基本（見出し・リンク）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簡単な YAML frontmatter 編集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（必須ではない）Git の pull / commit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4476" y="4297680"/>
            <a:ext cx="5362956" cy="4114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77356" y="429768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具体的なタスク例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4476" y="470916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323076" y="480060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新しい論文を papers/ に追加（Markdown）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fetch:youtube のキーワードを微調整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ボランティア提出フォームの内容を確認・公開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月次の活動レポートを Notion に集計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 Tier 3：貢献ボランティア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技術知識ゼロでも参加できる。フォーム経由で情報提供する広いボランティア層。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62956" cy="411480"/>
          </a:xfrm>
          <a:prstGeom prst="rect">
            <a:avLst/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主な役割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イベントの追加申請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研究室の追加申請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誤字・誤情報の指摘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翻訳・要約のレビュー（任意）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1874520"/>
            <a:ext cx="5362956" cy="411480"/>
          </a:xfrm>
          <a:prstGeom prst="rect">
            <a:avLst/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277356" y="187452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想定する人材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4476" y="228600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323076" y="237744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ボランティアで関わる学生・研究者・実務家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技術知識は不要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スポット参加でも歓迎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コミュニティを広げる主役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62956" cy="411480"/>
          </a:xfrm>
          <a:prstGeom prst="rect">
            <a:avLst/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必要スキル / 環境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Web フォームの入力ができれば十分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Notion / GitHub のアカウント不要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（任意）Notion ゲスト閲覧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情報源 URL を添付できると望ましい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4476" y="4297680"/>
            <a:ext cx="5362956" cy="411480"/>
          </a:xfrm>
          <a:prstGeom prst="rect">
            <a:avLst/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77356" y="4297680"/>
            <a:ext cx="5180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具体的なタスク例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4476" y="4709160"/>
            <a:ext cx="5362956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323076" y="4800600"/>
            <a:ext cx="49057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「次回ワークショップ」のフォーム入力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新設研究室の URL を提出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リンク切れの報告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学会発表の事前告知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 ツール・権限のマッピング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011680" y="1280160"/>
            <a:ext cx="1806854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011680" y="132588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69164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コード・サイト本体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64254" y="1280160"/>
            <a:ext cx="1806854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864254" y="132588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64254" y="169164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編集・運用 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6829" y="1280160"/>
            <a:ext cx="1806854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16829" y="132588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6829" y="169164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.env / クォータ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69403" y="1280160"/>
            <a:ext cx="1806854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569403" y="132588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（カード）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69403" y="169164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経費・購読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21978" y="1280160"/>
            <a:ext cx="1806854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421978" y="132588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21978" y="1691640"/>
            <a:ext cx="1806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ボランティア入口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148840"/>
            <a:ext cx="1463040" cy="640080"/>
          </a:xfrm>
          <a:prstGeom prst="rect">
            <a:avLst/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148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11680" y="214884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011680" y="214884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64254" y="214884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864254" y="214884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16829" y="214884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716829" y="214884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69403" y="214884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569403" y="214884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21978" y="2148840"/>
            <a:ext cx="1806854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9421978" y="214884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2880360"/>
            <a:ext cx="1463040" cy="6400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48640" y="2880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011680" y="288036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2011680" y="288036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Write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64254" y="288036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3864254" y="288036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16829" y="2880360"/>
            <a:ext cx="1806854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716829" y="288036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69403" y="288036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7569403" y="288036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Submit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421978" y="288036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9421978" y="288036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3611880"/>
            <a:ext cx="1463040" cy="640080"/>
          </a:xfrm>
          <a:prstGeom prst="rect">
            <a:avLst/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48640" y="3611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3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011680" y="3611880"/>
            <a:ext cx="1806854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2011680" y="361188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864254" y="361188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3864254" y="361188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Guest (read)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16829" y="3611880"/>
            <a:ext cx="1806854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5716829" y="361188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569403" y="3611880"/>
            <a:ext cx="1806854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7569403" y="361188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421978" y="3611880"/>
            <a:ext cx="180685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9421978" y="3611880"/>
            <a:ext cx="18068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Submit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46177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Admin/Owner = 完全管理権限、Write/Editor = 編集権限、Submit = 提出のみ、Review = 検収のみ、— = 権限なし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キー・支払い情報は Tier 1 のみ。Tier 2 は重要運用、Tier 3 はフォーム経由の入口のみ。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 育成と昇格のパス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関与の継続と実績を可視化し、本人の希望に応じて段階的に責任を委譲する。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6636" y="20116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7A9BC8"/>
          </a:solidFill>
          <a:ln w="12700">
            <a:solidFill>
              <a:srgbClr val="7A9B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16636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33956" y="2011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貢献ボランティア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6636" y="2514600"/>
            <a:ext cx="329184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99516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昇格の目安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" y="29260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フォームから 3 件以上の提出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やり取りが丁寧で信頼できる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継続意思がある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A9B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Tier 2 候補へ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99916" y="310896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448556" y="20116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448556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65876" y="2011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運用担当（有償）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48556" y="2514600"/>
            <a:ext cx="329184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631436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昇格の目安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31436" y="29260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Notion 編集の習熟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Markdown / frontmatter が書ける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重要運用を 3 ヶ月以上継続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1436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Tier 1 候補へ（任意）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31836" y="310896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380476" y="20116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F3F73"/>
          </a:solidFill>
          <a:ln w="12700">
            <a:solidFill>
              <a:srgbClr val="1F3F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380476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97796" y="2011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技術リード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80476" y="2514600"/>
            <a:ext cx="329184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563356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昇格の目安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63356" y="29260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Git / コード変更ができる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Tier 1 全員の合意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中長期コミットの意思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63356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コアチーム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評価は半年ごとに Tier 1 で実施し、本人と相談のうえ昇格・継続を決定する。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  次のステップ（3 ヶ月ロードマップ）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75304" cy="50292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75304" cy="45720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基盤を固める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75304" cy="36118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11810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Tier 1 の 2〜3 名を確定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Notion ワークスペースの整備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ボランティア用フォームを公開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運用ルール・予算枠を Notion に明文化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06824" y="1234440"/>
            <a:ext cx="3575304" cy="50292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489704" y="123444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06824" y="1737360"/>
            <a:ext cx="3575304" cy="45720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489704" y="173736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2 を募集・オンボード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06824" y="2194560"/>
            <a:ext cx="3575304" cy="36118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35424" y="2331720"/>
            <a:ext cx="311810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Tier 2 の役割記述で公募（1〜2 名）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オンボーディング資料を作成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論文要約のテンプレートを定義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支払いフロー（請求書・領収書）を確立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1234440"/>
            <a:ext cx="3575304" cy="50292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247888" y="123444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 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65008" y="1737360"/>
            <a:ext cx="3575304" cy="45720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247888" y="173736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 3 のチャネルを開く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65008" y="2194560"/>
            <a:ext cx="3575304" cy="361188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293608" y="2331720"/>
            <a:ext cx="311810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イベント・研究室の提出フォーム告知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コミュニティ向けに最初の運用報告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昇格基準の試運転（半期評価）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☐ 次フェーズの改善点を抽出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Take-home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601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信頼度・技術スキル・関与度の 3 軸で 3 層に分け、無理のない権限委譲と参加のしやすさを両立する。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Tier 1 が全権・最終責任、Tier 2 が定常運用と編集判断（有償）、Tier 3 はフォーム経由で誰でも貢献できる入口。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Tier 3 → 2 → 1 の昇格パスを設けて、サイトの持続性とコミュニティの広がりを同時に実現する。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955</Words>
  <Application>Microsoft Macintosh PowerPoint</Application>
  <PresentationFormat>ユーザー設定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Hamada Hiroaki</cp:lastModifiedBy>
  <cp:revision>4</cp:revision>
  <dcterms:created xsi:type="dcterms:W3CDTF">2026-05-11T01:30:20Z</dcterms:created>
  <dcterms:modified xsi:type="dcterms:W3CDTF">2026-05-11T01:43:04Z</dcterms:modified>
</cp:coreProperties>
</file>